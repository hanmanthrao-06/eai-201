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4"/>
  </p:sldMasterIdLst>
  <p:notesMasterIdLst>
    <p:notesMasterId r:id="rId10"/>
  </p:notesMasterIdLst>
  <p:sldIdLst>
    <p:sldId id="256" r:id="rId5"/>
    <p:sldId id="258" r:id="rId6"/>
    <p:sldId id="263" r:id="rId7"/>
    <p:sldId id="257"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C97DBA-8A06-4C1F-9232-FAD0AE0F095C}" v="55" dt="2025-09-22T18:32:45.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4676" autoAdjust="0"/>
  </p:normalViewPr>
  <p:slideViewPr>
    <p:cSldViewPr snapToGrid="0" showGuides="1">
      <p:cViewPr varScale="1">
        <p:scale>
          <a:sx n="109" d="100"/>
          <a:sy n="109" d="100"/>
        </p:scale>
        <p:origin x="906"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E16418-8FB6-4C09-9739-2C5F67EF1EA9}" type="datetimeFigureOut">
              <a:rPr lang="en-US" smtClean="0"/>
              <a:t>9/24/2025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06B2F-5920-495C-BB2E-251C69CFB1F8}" type="slidenum">
              <a:rPr lang="en-US" smtClean="0"/>
              <a:t>‹#›</a:t>
            </a:fld>
            <a:endParaRPr lang="en-US"/>
          </a:p>
        </p:txBody>
      </p:sp>
    </p:spTree>
    <p:extLst>
      <p:ext uri="{BB962C8B-B14F-4D97-AF65-F5344CB8AC3E}">
        <p14:creationId xmlns:p14="http://schemas.microsoft.com/office/powerpoint/2010/main" val="4058227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706B2F-5920-495C-BB2E-251C69CFB1F8}" type="slidenum">
              <a:rPr lang="en-US" smtClean="0"/>
              <a:t>1</a:t>
            </a:fld>
            <a:endParaRPr lang="en-US"/>
          </a:p>
        </p:txBody>
      </p:sp>
    </p:spTree>
    <p:extLst>
      <p:ext uri="{BB962C8B-B14F-4D97-AF65-F5344CB8AC3E}">
        <p14:creationId xmlns:p14="http://schemas.microsoft.com/office/powerpoint/2010/main" val="610036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20DA5-458C-CCB1-5C9C-3C7CBD54B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7A86E-B342-3B90-920D-0A32E75175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97F90-A3CF-FD14-B947-BA39B1E429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EB34C-D9E8-592B-9E54-84FF79FF6DE0}"/>
              </a:ext>
            </a:extLst>
          </p:cNvPr>
          <p:cNvSpPr>
            <a:spLocks noGrp="1"/>
          </p:cNvSpPr>
          <p:nvPr>
            <p:ph type="sldNum" sz="quarter" idx="5"/>
          </p:nvPr>
        </p:nvSpPr>
        <p:spPr/>
        <p:txBody>
          <a:bodyPr/>
          <a:lstStyle/>
          <a:p>
            <a:fld id="{1C706B2F-5920-495C-BB2E-251C69CFB1F8}" type="slidenum">
              <a:rPr lang="en-US" smtClean="0"/>
              <a:t>2</a:t>
            </a:fld>
            <a:endParaRPr lang="en-US"/>
          </a:p>
        </p:txBody>
      </p:sp>
    </p:spTree>
    <p:extLst>
      <p:ext uri="{BB962C8B-B14F-4D97-AF65-F5344CB8AC3E}">
        <p14:creationId xmlns:p14="http://schemas.microsoft.com/office/powerpoint/2010/main" val="3222196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1C493-4EBC-86BF-E7BA-0A297477B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83B41-2159-482A-C788-85C6D476D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81CEB-DBF6-CE4C-F4C1-867B23780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7501AE-C9F8-1001-8CE9-21978142027C}"/>
              </a:ext>
            </a:extLst>
          </p:cNvPr>
          <p:cNvSpPr>
            <a:spLocks noGrp="1"/>
          </p:cNvSpPr>
          <p:nvPr>
            <p:ph type="sldNum" sz="quarter" idx="5"/>
          </p:nvPr>
        </p:nvSpPr>
        <p:spPr/>
        <p:txBody>
          <a:bodyPr/>
          <a:lstStyle/>
          <a:p>
            <a:fld id="{1C706B2F-5920-495C-BB2E-251C69CFB1F8}" type="slidenum">
              <a:rPr lang="en-US" smtClean="0"/>
              <a:t>3</a:t>
            </a:fld>
            <a:endParaRPr lang="en-US"/>
          </a:p>
        </p:txBody>
      </p:sp>
    </p:spTree>
    <p:extLst>
      <p:ext uri="{BB962C8B-B14F-4D97-AF65-F5344CB8AC3E}">
        <p14:creationId xmlns:p14="http://schemas.microsoft.com/office/powerpoint/2010/main" val="1030130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5FFC2-891F-210A-991E-5BC502599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E2526-920D-D8B2-75E0-FDA297A2B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87AAC-2310-9191-5ABE-CE5EC18B1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02EA12-1EC3-825E-5F92-2288CBEEF537}"/>
              </a:ext>
            </a:extLst>
          </p:cNvPr>
          <p:cNvSpPr>
            <a:spLocks noGrp="1"/>
          </p:cNvSpPr>
          <p:nvPr>
            <p:ph type="sldNum" sz="quarter" idx="5"/>
          </p:nvPr>
        </p:nvSpPr>
        <p:spPr/>
        <p:txBody>
          <a:bodyPr/>
          <a:lstStyle/>
          <a:p>
            <a:fld id="{1C706B2F-5920-495C-BB2E-251C69CFB1F8}" type="slidenum">
              <a:rPr lang="en-US" smtClean="0"/>
              <a:t>4</a:t>
            </a:fld>
            <a:endParaRPr lang="en-US"/>
          </a:p>
        </p:txBody>
      </p:sp>
    </p:spTree>
    <p:extLst>
      <p:ext uri="{BB962C8B-B14F-4D97-AF65-F5344CB8AC3E}">
        <p14:creationId xmlns:p14="http://schemas.microsoft.com/office/powerpoint/2010/main" val="152748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81456-6032-B7A9-163D-84AB7575E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12BD5-B780-4FA3-C9C2-2C99D38E99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C7F46-DC36-E745-DD8A-3481CDF4EE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8F80E1-A6D1-F2BB-7F5B-CC83BE6EA89D}"/>
              </a:ext>
            </a:extLst>
          </p:cNvPr>
          <p:cNvSpPr>
            <a:spLocks noGrp="1"/>
          </p:cNvSpPr>
          <p:nvPr>
            <p:ph type="sldNum" sz="quarter" idx="5"/>
          </p:nvPr>
        </p:nvSpPr>
        <p:spPr/>
        <p:txBody>
          <a:bodyPr/>
          <a:lstStyle/>
          <a:p>
            <a:fld id="{1C706B2F-5920-495C-BB2E-251C69CFB1F8}" type="slidenum">
              <a:rPr lang="en-US" smtClean="0"/>
              <a:t>5</a:t>
            </a:fld>
            <a:endParaRPr lang="en-US"/>
          </a:p>
        </p:txBody>
      </p:sp>
    </p:spTree>
    <p:extLst>
      <p:ext uri="{BB962C8B-B14F-4D97-AF65-F5344CB8AC3E}">
        <p14:creationId xmlns:p14="http://schemas.microsoft.com/office/powerpoint/2010/main" val="2291909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9/24/2025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5052684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5918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090909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3455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810802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23914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1194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3401937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13929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275573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9/24/2025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96343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9/24/2025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5682326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light bulb with business icons">
            <a:extLst>
              <a:ext uri="{FF2B5EF4-FFF2-40B4-BE49-F238E27FC236}">
                <a16:creationId xmlns:a16="http://schemas.microsoft.com/office/drawing/2014/main" id="{3628652B-5B90-D917-0E72-B43FF0BBD0FD}"/>
              </a:ext>
            </a:extLst>
          </p:cNvPr>
          <p:cNvPicPr>
            <a:picLocks noChangeAspect="1"/>
          </p:cNvPicPr>
          <p:nvPr/>
        </p:nvPicPr>
        <p:blipFill>
          <a:blip r:embed="rId3">
            <a:alphaModFix/>
          </a:blip>
          <a:srcRect r="9562" b="1"/>
          <a:stretch>
            <a:fillRect/>
          </a:stretch>
        </p:blipFill>
        <p:spPr>
          <a:xfrm>
            <a:off x="3331593" y="10"/>
            <a:ext cx="8860407" cy="6857990"/>
          </a:xfrm>
          <a:custGeom>
            <a:avLst/>
            <a:gdLst/>
            <a:ahLst/>
            <a:cxnLst/>
            <a:rect l="l" t="t" r="r" b="b"/>
            <a:pathLst>
              <a:path w="8860407" h="6858000">
                <a:moveTo>
                  <a:pt x="0" y="0"/>
                </a:moveTo>
                <a:lnTo>
                  <a:pt x="8860407" y="0"/>
                </a:lnTo>
                <a:lnTo>
                  <a:pt x="8860407" y="6858000"/>
                </a:lnTo>
                <a:lnTo>
                  <a:pt x="661049" y="6858000"/>
                </a:lnTo>
                <a:lnTo>
                  <a:pt x="832672" y="6662026"/>
                </a:lnTo>
                <a:cubicBezTo>
                  <a:pt x="1465328" y="5866432"/>
                  <a:pt x="1845374" y="4846462"/>
                  <a:pt x="1845374" y="3734370"/>
                </a:cubicBezTo>
                <a:cubicBezTo>
                  <a:pt x="1845374" y="2244963"/>
                  <a:pt x="1163691" y="920792"/>
                  <a:pt x="106458" y="79568"/>
                </a:cubicBezTo>
                <a:close/>
              </a:path>
            </a:pathLst>
          </a:custGeom>
        </p:spPr>
      </p:pic>
      <p:sp>
        <p:nvSpPr>
          <p:cNvPr id="2" name="Title 1">
            <a:extLst>
              <a:ext uri="{FF2B5EF4-FFF2-40B4-BE49-F238E27FC236}">
                <a16:creationId xmlns:a16="http://schemas.microsoft.com/office/drawing/2014/main" id="{58369A9D-23A9-E891-094F-3D515578491E}"/>
              </a:ext>
            </a:extLst>
          </p:cNvPr>
          <p:cNvSpPr>
            <a:spLocks noGrp="1"/>
          </p:cNvSpPr>
          <p:nvPr>
            <p:ph type="ctrTitle"/>
          </p:nvPr>
        </p:nvSpPr>
        <p:spPr>
          <a:xfrm>
            <a:off x="513625" y="1315345"/>
            <a:ext cx="3447288" cy="2777154"/>
          </a:xfrm>
        </p:spPr>
        <p:txBody>
          <a:bodyPr anchor="b">
            <a:normAutofit/>
          </a:bodyPr>
          <a:lstStyle/>
          <a:p>
            <a:r>
              <a:rPr lang="en-US" sz="4400" dirty="0" err="1">
                <a:latin typeface="ADLaM Display" panose="02010000000000000000" pitchFamily="2" charset="0"/>
                <a:ea typeface="ADLaM Display" panose="02010000000000000000" pitchFamily="2" charset="0"/>
                <a:cs typeface="ADLaM Display" panose="02010000000000000000" pitchFamily="2" charset="0"/>
              </a:rPr>
              <a:t>Botbrain</a:t>
            </a:r>
            <a:r>
              <a:rPr lang="en-US" sz="4400" dirty="0">
                <a:latin typeface="ADLaM Display" panose="02010000000000000000" pitchFamily="2" charset="0"/>
                <a:ea typeface="ADLaM Display" panose="02010000000000000000" pitchFamily="2" charset="0"/>
                <a:cs typeface="ADLaM Display" panose="02010000000000000000" pitchFamily="2" charset="0"/>
              </a:rPr>
              <a:t> assignment</a:t>
            </a:r>
          </a:p>
        </p:txBody>
      </p:sp>
      <p:sp>
        <p:nvSpPr>
          <p:cNvPr id="11"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3" name="TextBox 2">
            <a:extLst>
              <a:ext uri="{FF2B5EF4-FFF2-40B4-BE49-F238E27FC236}">
                <a16:creationId xmlns:a16="http://schemas.microsoft.com/office/drawing/2014/main" id="{A36650DA-99E0-AC14-898A-61DE9094C5C3}"/>
              </a:ext>
            </a:extLst>
          </p:cNvPr>
          <p:cNvSpPr txBox="1"/>
          <p:nvPr/>
        </p:nvSpPr>
        <p:spPr>
          <a:xfrm>
            <a:off x="387448" y="5930946"/>
            <a:ext cx="2513407" cy="830997"/>
          </a:xfrm>
          <a:prstGeom prst="rect">
            <a:avLst/>
          </a:prstGeom>
          <a:noFill/>
        </p:spPr>
        <p:txBody>
          <a:bodyPr wrap="square" rtlCol="0">
            <a:spAutoFit/>
          </a:bodyPr>
          <a:lstStyle/>
          <a:p>
            <a:r>
              <a:rPr lang="en-US" sz="2400" dirty="0" err="1">
                <a:latin typeface="ADLaM Display" panose="02010000000000000000" pitchFamily="2" charset="0"/>
                <a:ea typeface="ADLaM Display" panose="02010000000000000000" pitchFamily="2" charset="0"/>
                <a:cs typeface="ADLaM Display" panose="02010000000000000000" pitchFamily="2" charset="0"/>
              </a:rPr>
              <a:t>Hanmanthrao</a:t>
            </a: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a:p>
            <a:r>
              <a:rPr lang="en-US" sz="2400" dirty="0">
                <a:latin typeface="ADLaM Display" panose="02010000000000000000" pitchFamily="2" charset="0"/>
                <a:ea typeface="ADLaM Display" panose="02010000000000000000" pitchFamily="2" charset="0"/>
                <a:cs typeface="ADLaM Display" panose="02010000000000000000" pitchFamily="2" charset="0"/>
              </a:rPr>
              <a:t>24UG00458</a:t>
            </a:r>
          </a:p>
        </p:txBody>
      </p:sp>
    </p:spTree>
    <p:extLst>
      <p:ext uri="{BB962C8B-B14F-4D97-AF65-F5344CB8AC3E}">
        <p14:creationId xmlns:p14="http://schemas.microsoft.com/office/powerpoint/2010/main" val="160930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D41A1469-3E4F-3898-A7A0-1404D92D6CD1}"/>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486EA6-00F0-26E6-9A66-26878FAF43C2}"/>
              </a:ext>
            </a:extLst>
          </p:cNvPr>
          <p:cNvSpPr>
            <a:spLocks noGrp="1"/>
          </p:cNvSpPr>
          <p:nvPr>
            <p:ph type="ctrTitle"/>
          </p:nvPr>
        </p:nvSpPr>
        <p:spPr>
          <a:xfrm>
            <a:off x="5543240" y="701700"/>
            <a:ext cx="6758151" cy="5086452"/>
          </a:xfrm>
        </p:spPr>
        <p:txBody>
          <a:bodyPr anchor="ctr">
            <a:normAutofit fontScale="90000"/>
          </a:bodyPr>
          <a:lstStyle/>
          <a:p>
            <a:r>
              <a:rPr lang="en-US" sz="4400" b="1" i="0" dirty="0">
                <a:latin typeface="ADLaM Display" panose="02010000000000000000" pitchFamily="2" charset="0"/>
                <a:ea typeface="ADLaM Display" panose="02010000000000000000" pitchFamily="2" charset="0"/>
                <a:cs typeface="ADLaM Display" panose="02010000000000000000" pitchFamily="2" charset="0"/>
              </a:rPr>
              <a:t>Introduction:</a:t>
            </a:r>
            <a:br>
              <a:rPr lang="en-US" sz="1500" b="1" i="0" dirty="0">
                <a:latin typeface="ADLaM Display" panose="02010000000000000000" pitchFamily="2" charset="0"/>
                <a:ea typeface="ADLaM Display" panose="02010000000000000000" pitchFamily="2" charset="0"/>
                <a:cs typeface="ADLaM Display" panose="02010000000000000000" pitchFamily="2" charset="0"/>
              </a:rPr>
            </a:br>
            <a:br>
              <a:rPr lang="en-US" sz="1500" b="1"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Getting around a big campus can be tricky, especially for new students.</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err="1">
                <a:latin typeface="ADLaM Display" panose="02010000000000000000" pitchFamily="2" charset="0"/>
                <a:ea typeface="ADLaM Display" panose="02010000000000000000" pitchFamily="2" charset="0"/>
                <a:cs typeface="ADLaM Display" panose="02010000000000000000" pitchFamily="2" charset="0"/>
              </a:rPr>
              <a:t>BotBrain</a:t>
            </a:r>
            <a:r>
              <a:rPr lang="en-US" sz="2400" i="0" dirty="0">
                <a:latin typeface="ADLaM Display" panose="02010000000000000000" pitchFamily="2" charset="0"/>
                <a:ea typeface="ADLaM Display" panose="02010000000000000000" pitchFamily="2" charset="0"/>
                <a:cs typeface="ADLaM Display" panose="02010000000000000000" pitchFamily="2" charset="0"/>
              </a:rPr>
              <a:t> is a smart campus navigator designed to make finding places at Chanakya University easy and fast. </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It uses simple search methods to find the shortest paths between buildings and answers questions through an easy chat interface.</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 This tool helps students save time and feel confident moving around campus.</a:t>
            </a:r>
            <a:br>
              <a:rPr lang="en-US" sz="1500" i="0" dirty="0"/>
            </a:br>
            <a:endParaRPr lang="en-US" sz="15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 name="Picture 3" descr="A colorful light bulb with business icons">
            <a:extLst>
              <a:ext uri="{FF2B5EF4-FFF2-40B4-BE49-F238E27FC236}">
                <a16:creationId xmlns:a16="http://schemas.microsoft.com/office/drawing/2014/main" id="{44184A19-09DA-FB6F-F556-BDC815A44852}"/>
              </a:ext>
            </a:extLst>
          </p:cNvPr>
          <p:cNvPicPr>
            <a:picLocks noChangeAspect="1"/>
          </p:cNvPicPr>
          <p:nvPr/>
        </p:nvPicPr>
        <p:blipFill>
          <a:blip r:embed="rId3"/>
          <a:srcRect l="21905" r="24865" b="1"/>
          <a:stretch>
            <a:fillRect/>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cxnSp>
        <p:nvCxnSpPr>
          <p:cNvPr id="27" name="Straight Connector 26">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040331" y="4555071"/>
            <a:ext cx="53035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919620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5B3E56F1-055D-686A-C039-480F7634AA97}"/>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A6A4F-332B-B096-5924-184240A105C0}"/>
              </a:ext>
            </a:extLst>
          </p:cNvPr>
          <p:cNvSpPr>
            <a:spLocks noGrp="1"/>
          </p:cNvSpPr>
          <p:nvPr>
            <p:ph type="ctrTitle"/>
          </p:nvPr>
        </p:nvSpPr>
        <p:spPr>
          <a:xfrm>
            <a:off x="1078991" y="893935"/>
            <a:ext cx="5364937" cy="3339390"/>
          </a:xfrm>
        </p:spPr>
        <p:txBody>
          <a:bodyPr anchor="ctr">
            <a:normAutofit fontScale="90000"/>
          </a:bodyPr>
          <a:lstStyle/>
          <a:p>
            <a:r>
              <a:rPr lang="en-US" sz="4400" b="1" i="0" dirty="0">
                <a:latin typeface="ADLaM Display" panose="02010000000000000000" pitchFamily="2" charset="0"/>
                <a:ea typeface="ADLaM Display" panose="02010000000000000000" pitchFamily="2" charset="0"/>
                <a:cs typeface="ADLaM Display" panose="02010000000000000000" pitchFamily="2" charset="0"/>
              </a:rPr>
              <a:t>Objectives</a:t>
            </a:r>
            <a:br>
              <a:rPr lang="en-US" sz="1500" b="1" i="0" dirty="0">
                <a:latin typeface="ADLaM Display" panose="02010000000000000000" pitchFamily="2" charset="0"/>
                <a:ea typeface="ADLaM Display" panose="02010000000000000000" pitchFamily="2" charset="0"/>
                <a:cs typeface="ADLaM Display" panose="02010000000000000000" pitchFamily="2" charset="0"/>
              </a:rPr>
            </a:br>
            <a:br>
              <a:rPr lang="en-US" sz="1500" b="1" i="0" dirty="0">
                <a:latin typeface="ADLaM Display" panose="02010000000000000000" pitchFamily="2" charset="0"/>
                <a:ea typeface="ADLaM Display" panose="02010000000000000000" pitchFamily="2" charset="0"/>
                <a:cs typeface="ADLaM Display" panose="02010000000000000000" pitchFamily="2" charset="0"/>
              </a:rPr>
            </a:br>
            <a:br>
              <a:rPr lang="en-US" sz="1500" b="1"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Help students find shortest paths between campus buildings.</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Provide detailed campus info: locations, FAQs.</a:t>
            </a:r>
            <a:br>
              <a:rPr lang="en-US" sz="2400" b="1"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Create a scalable backend for real-time route planning.</a:t>
            </a:r>
            <a:br>
              <a:rPr lang="en-US" sz="2400" i="0" dirty="0">
                <a:latin typeface="ADLaM Display" panose="02010000000000000000" pitchFamily="2" charset="0"/>
                <a:ea typeface="ADLaM Display" panose="02010000000000000000" pitchFamily="2" charset="0"/>
                <a:cs typeface="ADLaM Display" panose="02010000000000000000" pitchFamily="2" charset="0"/>
              </a:rPr>
            </a:br>
            <a:endParaRPr lang="en-US" sz="1500" dirty="0">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47" name="Straight Connector 46">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40408" y="4555071"/>
            <a:ext cx="53035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colorful light bulb with business icons">
            <a:extLst>
              <a:ext uri="{FF2B5EF4-FFF2-40B4-BE49-F238E27FC236}">
                <a16:creationId xmlns:a16="http://schemas.microsoft.com/office/drawing/2014/main" id="{EA367692-176A-EF27-9D32-A27C0224AF7B}"/>
              </a:ext>
            </a:extLst>
          </p:cNvPr>
          <p:cNvPicPr>
            <a:picLocks noChangeAspect="1"/>
          </p:cNvPicPr>
          <p:nvPr/>
        </p:nvPicPr>
        <p:blipFill>
          <a:blip r:embed="rId3"/>
          <a:srcRect l="21905" r="24865" b="1"/>
          <a:stretch>
            <a:fillRect/>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48"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55333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F9EB1FE2-C9C5-58F8-A6FE-AB14E0C545E5}"/>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light bulb with business icons">
            <a:extLst>
              <a:ext uri="{FF2B5EF4-FFF2-40B4-BE49-F238E27FC236}">
                <a16:creationId xmlns:a16="http://schemas.microsoft.com/office/drawing/2014/main" id="{13ED4DA3-0CEE-2CFF-9AFB-3B6A196E2536}"/>
              </a:ext>
            </a:extLst>
          </p:cNvPr>
          <p:cNvPicPr>
            <a:picLocks noChangeAspect="1"/>
          </p:cNvPicPr>
          <p:nvPr/>
        </p:nvPicPr>
        <p:blipFill>
          <a:blip r:embed="rId3"/>
          <a:srcRect t="9747" b="9896"/>
          <a:stretch>
            <a:fillRect/>
          </a:stretch>
        </p:blipFill>
        <p:spPr>
          <a:xfrm>
            <a:off x="294310" y="10"/>
            <a:ext cx="12191980" cy="6857990"/>
          </a:xfrm>
          <a:prstGeom prst="rect">
            <a:avLst/>
          </a:prstGeom>
        </p:spPr>
      </p:pic>
      <p:sp>
        <p:nvSpPr>
          <p:cNvPr id="18" name="Rectangle 17">
            <a:extLst>
              <a:ext uri="{FF2B5EF4-FFF2-40B4-BE49-F238E27FC236}">
                <a16:creationId xmlns:a16="http://schemas.microsoft.com/office/drawing/2014/main" id="{9FBB9AF1-CE92-475C-A47B-5FC32922B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0"/>
            <a:ext cx="12191999" cy="6858000"/>
          </a:xfrm>
          <a:prstGeom prst="rect">
            <a:avLst/>
          </a:prstGeom>
          <a:gradFill flip="none" rotWithShape="1">
            <a:gsLst>
              <a:gs pos="100000">
                <a:srgbClr val="000000">
                  <a:alpha val="0"/>
                </a:srgbClr>
              </a:gs>
              <a:gs pos="30000">
                <a:srgbClr val="00000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3398B1-C968-296D-C307-5C6CECA1B722}"/>
              </a:ext>
            </a:extLst>
          </p:cNvPr>
          <p:cNvSpPr>
            <a:spLocks noGrp="1"/>
          </p:cNvSpPr>
          <p:nvPr>
            <p:ph type="ctrTitle"/>
          </p:nvPr>
        </p:nvSpPr>
        <p:spPr>
          <a:xfrm>
            <a:off x="451945" y="168166"/>
            <a:ext cx="10436772" cy="4521013"/>
          </a:xfrm>
        </p:spPr>
        <p:txBody>
          <a:bodyPr>
            <a:normAutofit/>
          </a:bodyPr>
          <a:lstStyle/>
          <a:p>
            <a:r>
              <a:rPr lang="en-US" sz="4000" b="1"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                UI for mobile or website </a:t>
            </a:r>
          </a:p>
        </p:txBody>
      </p:sp>
      <p:cxnSp>
        <p:nvCxnSpPr>
          <p:cNvPr id="20" name="Straight Connector 19">
            <a:extLst>
              <a:ext uri="{FF2B5EF4-FFF2-40B4-BE49-F238E27FC236}">
                <a16:creationId xmlns:a16="http://schemas.microsoft.com/office/drawing/2014/main" id="{D81E42A3-743C-4C15-9DA8-93AA9AEBFB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1143293"/>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pic>
        <p:nvPicPr>
          <p:cNvPr id="5" name="Picture 4">
            <a:extLst>
              <a:ext uri="{FF2B5EF4-FFF2-40B4-BE49-F238E27FC236}">
                <a16:creationId xmlns:a16="http://schemas.microsoft.com/office/drawing/2014/main" id="{52E8907F-EFBE-4FCB-DCCF-8DADB87C487C}"/>
              </a:ext>
            </a:extLst>
          </p:cNvPr>
          <p:cNvPicPr>
            <a:picLocks noChangeAspect="1"/>
          </p:cNvPicPr>
          <p:nvPr/>
        </p:nvPicPr>
        <p:blipFill>
          <a:blip r:embed="rId4"/>
          <a:stretch>
            <a:fillRect/>
          </a:stretch>
        </p:blipFill>
        <p:spPr>
          <a:xfrm>
            <a:off x="1223595" y="777725"/>
            <a:ext cx="9896350" cy="5728179"/>
          </a:xfrm>
          <a:prstGeom prst="rect">
            <a:avLst/>
          </a:prstGeom>
        </p:spPr>
      </p:pic>
      <p:pic>
        <p:nvPicPr>
          <p:cNvPr id="6" name="Picture 5">
            <a:extLst>
              <a:ext uri="{FF2B5EF4-FFF2-40B4-BE49-F238E27FC236}">
                <a16:creationId xmlns:a16="http://schemas.microsoft.com/office/drawing/2014/main" id="{D316E51B-3250-8AEC-9623-D2325436CDEE}"/>
              </a:ext>
            </a:extLst>
          </p:cNvPr>
          <p:cNvPicPr>
            <a:picLocks noChangeAspect="1"/>
          </p:cNvPicPr>
          <p:nvPr/>
        </p:nvPicPr>
        <p:blipFill>
          <a:blip r:embed="rId5"/>
          <a:stretch>
            <a:fillRect/>
          </a:stretch>
        </p:blipFill>
        <p:spPr>
          <a:xfrm>
            <a:off x="758951" y="684995"/>
            <a:ext cx="10530371" cy="5820909"/>
          </a:xfrm>
          <a:prstGeom prst="rect">
            <a:avLst/>
          </a:prstGeom>
        </p:spPr>
      </p:pic>
    </p:spTree>
    <p:extLst>
      <p:ext uri="{BB962C8B-B14F-4D97-AF65-F5344CB8AC3E}">
        <p14:creationId xmlns:p14="http://schemas.microsoft.com/office/powerpoint/2010/main" val="1887347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C5DF29CF-DB04-B546-6E00-B66EBC9C76B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28A091-EA31-46EE-165B-23D4309DF433}"/>
              </a:ext>
            </a:extLst>
          </p:cNvPr>
          <p:cNvSpPr>
            <a:spLocks noGrp="1"/>
          </p:cNvSpPr>
          <p:nvPr>
            <p:ph type="ctrTitle"/>
          </p:nvPr>
        </p:nvSpPr>
        <p:spPr>
          <a:xfrm>
            <a:off x="6040330" y="1896913"/>
            <a:ext cx="5364937" cy="2658158"/>
          </a:xfrm>
        </p:spPr>
        <p:txBody>
          <a:bodyPr anchor="ctr">
            <a:noAutofit/>
          </a:bodyPr>
          <a:lstStyle/>
          <a:p>
            <a:r>
              <a:rPr lang="en-US" sz="4000" b="1" i="0" dirty="0">
                <a:latin typeface="ADLaM Display" panose="02010000000000000000" pitchFamily="2" charset="0"/>
                <a:ea typeface="ADLaM Display" panose="02010000000000000000" pitchFamily="2" charset="0"/>
                <a:cs typeface="ADLaM Display" panose="02010000000000000000" pitchFamily="2" charset="0"/>
              </a:rPr>
              <a:t>Conclusion</a:t>
            </a:r>
            <a:br>
              <a:rPr lang="en-US" sz="2400" b="1" i="0" dirty="0">
                <a:latin typeface="ADLaM Display" panose="02010000000000000000" pitchFamily="2" charset="0"/>
                <a:ea typeface="ADLaM Display" panose="02010000000000000000" pitchFamily="2" charset="0"/>
                <a:cs typeface="ADLaM Display" panose="02010000000000000000" pitchFamily="2" charset="0"/>
              </a:rPr>
            </a:br>
            <a:br>
              <a:rPr lang="en-US" sz="2400" b="1" i="0" dirty="0">
                <a:latin typeface="ADLaM Display" panose="02010000000000000000" pitchFamily="2" charset="0"/>
                <a:ea typeface="ADLaM Display" panose="02010000000000000000" pitchFamily="2" charset="0"/>
                <a:cs typeface="ADLaM Display" panose="02010000000000000000" pitchFamily="2" charset="0"/>
              </a:rPr>
            </a:br>
            <a:br>
              <a:rPr lang="en-US" sz="2400" b="1"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err="1">
                <a:latin typeface="ADLaM Display" panose="02010000000000000000" pitchFamily="2" charset="0"/>
                <a:ea typeface="ADLaM Display" panose="02010000000000000000" pitchFamily="2" charset="0"/>
                <a:cs typeface="ADLaM Display" panose="02010000000000000000" pitchFamily="2" charset="0"/>
              </a:rPr>
              <a:t>BotBrain</a:t>
            </a:r>
            <a:r>
              <a:rPr lang="en-US" sz="2400" i="0" dirty="0">
                <a:latin typeface="ADLaM Display" panose="02010000000000000000" pitchFamily="2" charset="0"/>
                <a:ea typeface="ADLaM Display" panose="02010000000000000000" pitchFamily="2" charset="0"/>
                <a:cs typeface="ADLaM Display" panose="02010000000000000000" pitchFamily="2" charset="0"/>
              </a:rPr>
              <a:t> enhances campus navigation efficiency and student comfort.</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Future plans: Integrate Google Maps API and mobile app support.</a:t>
            </a:r>
            <a:br>
              <a:rPr lang="en-US" sz="2400" i="0" dirty="0">
                <a:latin typeface="ADLaM Display" panose="02010000000000000000" pitchFamily="2" charset="0"/>
                <a:ea typeface="ADLaM Display" panose="02010000000000000000" pitchFamily="2" charset="0"/>
                <a:cs typeface="ADLaM Display" panose="02010000000000000000" pitchFamily="2" charset="0"/>
              </a:rPr>
            </a:br>
            <a:br>
              <a:rPr lang="en-US" sz="2400" i="0" dirty="0">
                <a:latin typeface="ADLaM Display" panose="02010000000000000000" pitchFamily="2" charset="0"/>
                <a:ea typeface="ADLaM Display" panose="02010000000000000000" pitchFamily="2" charset="0"/>
                <a:cs typeface="ADLaM Display" panose="02010000000000000000" pitchFamily="2" charset="0"/>
              </a:rPr>
            </a:br>
            <a:r>
              <a:rPr lang="en-US" sz="2400" i="0" dirty="0">
                <a:latin typeface="ADLaM Display" panose="02010000000000000000" pitchFamily="2" charset="0"/>
                <a:ea typeface="ADLaM Display" panose="02010000000000000000" pitchFamily="2" charset="0"/>
                <a:cs typeface="ADLaM Display" panose="02010000000000000000" pitchFamily="2" charset="0"/>
              </a:rPr>
              <a:t>Expand chatbot abilities for more queries and services.</a:t>
            </a:r>
            <a:br>
              <a:rPr lang="en-US" sz="2400" i="0" dirty="0">
                <a:latin typeface="ADLaM Display" panose="02010000000000000000" pitchFamily="2" charset="0"/>
                <a:ea typeface="ADLaM Display" panose="02010000000000000000" pitchFamily="2" charset="0"/>
                <a:cs typeface="ADLaM Display" panose="02010000000000000000" pitchFamily="2" charset="0"/>
              </a:rPr>
            </a:br>
            <a:endParaRPr lang="en-US" sz="2400"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4" name="Picture 3" descr="A colorful light bulb with business icons">
            <a:extLst>
              <a:ext uri="{FF2B5EF4-FFF2-40B4-BE49-F238E27FC236}">
                <a16:creationId xmlns:a16="http://schemas.microsoft.com/office/drawing/2014/main" id="{62455B24-5F77-C18F-6CDD-8195082BCD2C}"/>
              </a:ext>
            </a:extLst>
          </p:cNvPr>
          <p:cNvPicPr>
            <a:picLocks noChangeAspect="1"/>
          </p:cNvPicPr>
          <p:nvPr/>
        </p:nvPicPr>
        <p:blipFill>
          <a:blip r:embed="rId3"/>
          <a:srcRect l="21905" r="24865" b="1"/>
          <a:stretch>
            <a:fillRect/>
          </a:stretch>
        </p:blipFill>
        <p:spPr>
          <a:xfrm>
            <a:off x="1" y="10"/>
            <a:ext cx="5215066" cy="6857990"/>
          </a:xfrm>
          <a:custGeom>
            <a:avLst/>
            <a:gdLst/>
            <a:ahLst/>
            <a:cxnLst/>
            <a:rect l="l" t="t" r="r" b="b"/>
            <a:pathLst>
              <a:path w="5215066" h="6845983">
                <a:moveTo>
                  <a:pt x="0" y="0"/>
                </a:moveTo>
                <a:lnTo>
                  <a:pt x="3197713" y="0"/>
                </a:lnTo>
                <a:lnTo>
                  <a:pt x="3259787" y="39795"/>
                </a:lnTo>
                <a:cubicBezTo>
                  <a:pt x="4439462" y="836768"/>
                  <a:pt x="5215066" y="2186425"/>
                  <a:pt x="5215066" y="3717234"/>
                </a:cubicBezTo>
                <a:cubicBezTo>
                  <a:pt x="5215066" y="4788800"/>
                  <a:pt x="4835020" y="5771602"/>
                  <a:pt x="4202364" y="6538204"/>
                </a:cubicBezTo>
                <a:lnTo>
                  <a:pt x="3922635" y="6845983"/>
                </a:lnTo>
                <a:lnTo>
                  <a:pt x="0" y="6845983"/>
                </a:lnTo>
                <a:close/>
              </a:path>
            </a:pathLst>
          </a:custGeom>
        </p:spPr>
      </p:pic>
      <p:cxnSp>
        <p:nvCxnSpPr>
          <p:cNvPr id="18" name="Straight Connector 17">
            <a:extLst>
              <a:ext uri="{FF2B5EF4-FFF2-40B4-BE49-F238E27FC236}">
                <a16:creationId xmlns:a16="http://schemas.microsoft.com/office/drawing/2014/main" id="{E3B95BE3-D5B2-4F38-9A01-17866C9FB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040331" y="4555071"/>
            <a:ext cx="53035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63221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Headlines">
      <a:dk1>
        <a:sysClr val="windowText" lastClr="000000"/>
      </a:dk1>
      <a:lt1>
        <a:sysClr val="window" lastClr="FFFFFF"/>
      </a:lt1>
      <a:dk2>
        <a:srgbClr val="232C41"/>
      </a:dk2>
      <a:lt2>
        <a:srgbClr val="F6F4EF"/>
      </a:lt2>
      <a:accent1>
        <a:srgbClr val="439EB7"/>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B314F39EBC9242801770B78D4F045A" ma:contentTypeVersion="6" ma:contentTypeDescription="Create a new document." ma:contentTypeScope="" ma:versionID="45b13779f4f931016ccca12a14245073">
  <xsd:schema xmlns:xsd="http://www.w3.org/2001/XMLSchema" xmlns:xs="http://www.w3.org/2001/XMLSchema" xmlns:p="http://schemas.microsoft.com/office/2006/metadata/properties" xmlns:ns3="07466235-22bd-4fc8-b004-8eb7c938d2f7" targetNamespace="http://schemas.microsoft.com/office/2006/metadata/properties" ma:root="true" ma:fieldsID="f312fdb266056a803224f74d781e3df1" ns3:_="">
    <xsd:import namespace="07466235-22bd-4fc8-b004-8eb7c938d2f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466235-22bd-4fc8-b004-8eb7c938d2f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07466235-22bd-4fc8-b004-8eb7c938d2f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5E2C20-868E-496E-BF2C-215FEB90C1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466235-22bd-4fc8-b004-8eb7c938d2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42F790-C423-4587-B143-93DC4E353917}">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07466235-22bd-4fc8-b004-8eb7c938d2f7"/>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BF480E82-0FE6-463C-869B-C0B409AFCC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TotalTime>
  <Words>170</Words>
  <Application>Microsoft Office PowerPoint</Application>
  <PresentationFormat>Widescreen</PresentationFormat>
  <Paragraphs>12</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ADLaM Display</vt:lpstr>
      <vt:lpstr>Aptos</vt:lpstr>
      <vt:lpstr>Arial</vt:lpstr>
      <vt:lpstr>Avenir Next LT Pro</vt:lpstr>
      <vt:lpstr>Sitka Banner</vt:lpstr>
      <vt:lpstr>HeadlinesVTI</vt:lpstr>
      <vt:lpstr>Botbrain assignment</vt:lpstr>
      <vt:lpstr>Introduction:  Getting around a big campus can be tricky, especially for new students.  BotBrain is a smart campus navigator designed to make finding places at Chanakya University easy and fast.   It uses simple search methods to find the shortest paths between buildings and answers questions through an easy chat interface.     This tool helps students save time and feel confident moving around campus. </vt:lpstr>
      <vt:lpstr>Objectives   Help students find shortest paths between campus buildings.  Provide detailed campus info: locations, FAQs.  Create a scalable backend for real-time route planning. </vt:lpstr>
      <vt:lpstr>                UI for mobile or website </vt:lpstr>
      <vt:lpstr>Conclusion   BotBrain enhances campus navigation efficiency and student comfort.  Future plans: Integrate Google Maps API and mobile app support.  Expand chatbot abilities for more queries and services.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hanmanth Rao</dc:creator>
  <cp:lastModifiedBy>hanmanth Rao</cp:lastModifiedBy>
  <cp:revision>3</cp:revision>
  <dcterms:created xsi:type="dcterms:W3CDTF">2025-09-22T17:46:37Z</dcterms:created>
  <dcterms:modified xsi:type="dcterms:W3CDTF">2025-09-24T06:37:13Z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0x01010069B314F39EBC9242801770B78D4F045A</vt:lpwstr>
  </property>
</Properties>
</file>